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2"/>
  </p:notesMasterIdLst>
  <p:sldIdLst>
    <p:sldId id="257" r:id="rId3"/>
    <p:sldId id="261" r:id="rId4"/>
    <p:sldId id="264" r:id="rId5"/>
    <p:sldId id="286" r:id="rId6"/>
    <p:sldId id="288" r:id="rId7"/>
    <p:sldId id="300" r:id="rId8"/>
    <p:sldId id="315" r:id="rId9"/>
    <p:sldId id="316" r:id="rId10"/>
    <p:sldId id="280" r:id="rId11"/>
    <p:sldId id="284" r:id="rId12"/>
    <p:sldId id="313" r:id="rId13"/>
    <p:sldId id="317" r:id="rId14"/>
    <p:sldId id="318" r:id="rId15"/>
    <p:sldId id="303" r:id="rId16"/>
    <p:sldId id="277" r:id="rId17"/>
    <p:sldId id="273" r:id="rId18"/>
    <p:sldId id="267" r:id="rId19"/>
    <p:sldId id="271" r:id="rId20"/>
    <p:sldId id="282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79FF"/>
    <a:srgbClr val="508D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27F97BB-C833-4FB7-BDE5-3F7075034690}" styleName="Стиль из темы 2 -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FD4443E-F989-4FC4-A0C8-D5A2AF1F390B}" styleName="Темный стиль 1 — акцент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Светлый стиль 3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3BC005-318B-4540-B8DE-0EDB0A12B877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2769F-D07A-4B03-862A-8D21C8F60D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9518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6167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6A89B5-991B-4F5B-B52B-AF9B530EEF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E19C62D-E761-4786-90A3-B609514E11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B1CAC3-FDFF-49F2-9ECB-954B274C2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AE2B7-C5E0-47EE-8A1C-37359FA49824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A9F62A-87C1-43AD-A944-B74F74F60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5B58C2-5C6D-4DC0-A326-F127E6832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75071-70CF-4A42-BFEB-8193DAD21B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0803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FBF953-1782-43B2-AFA5-081A0051D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CB3F2A-A922-44AC-B685-98E9EB561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AFFCBE-431D-4358-80DD-85EF13E8B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AE2B7-C5E0-47EE-8A1C-37359FA49824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02BD97-41E0-4AAE-99C2-EDC0E5C57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271837-F031-451A-AE4C-8A53C78D3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75071-70CF-4A42-BFEB-8193DAD21B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2046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5A603F-1408-43A0-8637-9CA1B2777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B5AC838-B0E6-44AD-A298-952B65206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FAA2B0-B6A4-4247-9DE5-8DA800964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AE2B7-C5E0-47EE-8A1C-37359FA49824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B42A52-F925-456E-AD94-42E27B08C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0C550E-B24C-48FF-A43C-DAA312C10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75071-70CF-4A42-BFEB-8193DAD21B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951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FBBF0F-F13A-4E43-9D4C-B00140992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EB51BD-CC20-4259-9086-14DAFCEF83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CD63CEC-5143-4E1C-B253-5219BA921F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96F69A7-16BD-47E3-B85F-ED20CEF97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AE2B7-C5E0-47EE-8A1C-37359FA49824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96CF311-E959-4C21-816D-A3A68D03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A0CD0D5-0468-47BE-A80C-069AF3672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75071-70CF-4A42-BFEB-8193DAD21B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9925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F40475-D665-4517-8324-ED3734CAF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E0F259-BFE1-4902-AE8A-D369AC2A1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47E3339-6D7B-4C08-8B5C-8E6674CCC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33BD879-6870-412B-8618-146A443201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C214B83-7E83-440A-AF30-BB1375D428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66F29F8-C3CE-4A66-B28D-271D4E869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AE2B7-C5E0-47EE-8A1C-37359FA49824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BD97BF6-E270-40DB-B89A-A6BB9C6F9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2BC2BCB-CF45-45DA-B86E-146AF42D6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75071-70CF-4A42-BFEB-8193DAD21B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542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B77CA-8904-425D-B2A4-E422AE66C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E8EA7C7-DE13-49DB-8F50-A7F6A8C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AE2B7-C5E0-47EE-8A1C-37359FA49824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770597D-7DD1-46A5-AAD2-1C805132E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D0045AF-8B84-4C34-8893-92CDED424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75071-70CF-4A42-BFEB-8193DAD21B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2248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662793C-8AA6-4767-BF3C-A07F25E99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AE2B7-C5E0-47EE-8A1C-37359FA49824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1567225-E756-48E8-8268-064857DAA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E8406B-31BD-49E7-A66C-2A4F6DB29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75071-70CF-4A42-BFEB-8193DAD21B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3089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D7E882-7826-47B9-8230-20F52451C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FEC1BE-477A-4989-93F6-503398D26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11D8D04-BCDD-49A2-A7B6-53AEACD32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56C1318-B5AE-4412-BE57-900489362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AE2B7-C5E0-47EE-8A1C-37359FA49824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43AF064-6A22-4722-ABAC-F85D303D7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302F3F7-05ED-4C52-A961-DBCDA121C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75071-70CF-4A42-BFEB-8193DAD21B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8787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467DD2-FAEE-466E-9EB7-A70D1DD66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0862338-0127-4ED2-8684-823C352E89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7FA6BDF-C4A3-4828-A64E-8F1E8BBB41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F2C82AC-9159-4BDF-9B78-FA98E77D1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AE2B7-C5E0-47EE-8A1C-37359FA49824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EA6C1F3-F8EF-4F02-BF75-B8D9A245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CD28D15-2356-4351-BCF5-103B46939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75071-70CF-4A42-BFEB-8193DAD21B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7137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27C8DC-5373-468A-925C-62506E164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FAE4D2F-838A-4461-8131-44E0EF56B8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94DF5E-E6B6-439F-A552-C1F944538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AE2B7-C5E0-47EE-8A1C-37359FA49824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F352F4-FC3C-4DAA-92A6-749575CCC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25512E-3686-48F5-9D21-79C94DE9D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75071-70CF-4A42-BFEB-8193DAD21B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619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F5AEFCD-0CE4-4051-B260-BA9204A675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CC6ECA2-E871-4BBD-B1CF-4AE797C8D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488BA8-28F0-4391-8C72-BD53EAC5F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AE2B7-C5E0-47EE-8A1C-37359FA49824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B5D005-7908-431A-B630-2543540A9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AECDBC-444F-46D6-8DCF-E4422AC71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75071-70CF-4A42-BFEB-8193DAD21B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1539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1680" y="3223260"/>
            <a:ext cx="533333" cy="2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7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1680" y="3223260"/>
            <a:ext cx="533333" cy="2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577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05BD82-703F-48C2-A8C7-40E3C180F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65A4C07-2B7B-44C4-BBF4-A7192197F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727A88-60AE-4C59-AF63-B14A1312A9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AE2B7-C5E0-47EE-8A1C-37359FA49824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8A39D4-02A1-404A-85AC-BDD151C83A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CA63C3-CB61-4986-A9E5-EDC368924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75071-70CF-4A42-BFEB-8193DAD21B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7150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1680" y="3223260"/>
            <a:ext cx="533333" cy="2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8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11" Type="http://schemas.openxmlformats.org/officeDocument/2006/relationships/image" Target="../media/image16.sv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svg"/><Relationship Id="rId9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5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1.png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0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png"/><Relationship Id="rId4" Type="http://schemas.openxmlformats.org/officeDocument/2006/relationships/image" Target="../media/image3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image" Target="../media/image4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530" y="6024358"/>
            <a:ext cx="1028700" cy="368300"/>
          </a:xfrm>
          <a:prstGeom prst="rect">
            <a:avLst/>
          </a:prstGeom>
        </p:spPr>
      </p:pic>
      <p:pic>
        <p:nvPicPr>
          <p:cNvPr id="3" name="Group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13500" y="952500"/>
            <a:ext cx="5302250" cy="4699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6250" y="1577975"/>
            <a:ext cx="5937250" cy="2581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200"/>
              </a:lnSpc>
            </a:pPr>
            <a:r>
              <a:rPr lang="ru-RU" sz="3200" b="1" dirty="0">
                <a:solidFill>
                  <a:srgbClr val="000000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Создание модели для прогнозирования временных рядов в финансовой сфере</a:t>
            </a:r>
            <a:endParaRPr 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1DE71B-0DEE-4904-83DA-4D6B13DCEDCD}"/>
              </a:ext>
            </a:extLst>
          </p:cNvPr>
          <p:cNvSpPr txBox="1"/>
          <p:nvPr/>
        </p:nvSpPr>
        <p:spPr>
          <a:xfrm>
            <a:off x="476250" y="5278641"/>
            <a:ext cx="5114925" cy="74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ru-RU" sz="2400" b="1" dirty="0">
                <a:solidFill>
                  <a:srgbClr val="000000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Выполнил: Коряковский А. Р.</a:t>
            </a:r>
          </a:p>
          <a:p>
            <a:pPr>
              <a:lnSpc>
                <a:spcPts val="2500"/>
              </a:lnSpc>
            </a:pPr>
            <a:r>
              <a:rPr lang="ru-RU" sz="2400" b="1" dirty="0">
                <a:solidFill>
                  <a:srgbClr val="000000"/>
                </a:solidFill>
                <a:latin typeface="Nunito Bold" pitchFamily="34" charset="0"/>
              </a:rPr>
              <a:t>Группа: ИСП-21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979A3AC-B670-4568-9433-D262FAAEA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1403350"/>
            <a:ext cx="9525000" cy="2540000"/>
          </a:xfrm>
          <a:prstGeom prst="rect">
            <a:avLst/>
          </a:prstGeom>
        </p:spPr>
      </p:pic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6250" y="6013450"/>
            <a:ext cx="1028700" cy="368300"/>
          </a:xfrm>
          <a:prstGeom prst="rect">
            <a:avLst/>
          </a:prstGeom>
        </p:spPr>
      </p:pic>
      <p:sp>
        <p:nvSpPr>
          <p:cNvPr id="3" name="-"/>
          <p:cNvSpPr/>
          <p:nvPr/>
        </p:nvSpPr>
        <p:spPr>
          <a:xfrm>
            <a:off x="476250" y="666749"/>
            <a:ext cx="97345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75000"/>
              </a:lnSpc>
            </a:pPr>
            <a:r>
              <a:rPr lang="ru-RU" sz="2800" dirty="0">
                <a:solidFill>
                  <a:srgbClr val="000000"/>
                </a:solidFill>
                <a:latin typeface="Nunito Sans ExtraBold" pitchFamily="34" charset="0"/>
                <a:ea typeface="Nunito Sans ExtraBold" pitchFamily="34" charset="-122"/>
                <a:cs typeface="Nunito Sans ExtraBold" pitchFamily="34" charset="-120"/>
              </a:rPr>
              <a:t>Главной целью работы является</a:t>
            </a:r>
            <a:r>
              <a:rPr lang="en-US" sz="2800" dirty="0">
                <a:solidFill>
                  <a:srgbClr val="000000"/>
                </a:solidFill>
                <a:latin typeface="Nunito Sans ExtraBold" pitchFamily="34" charset="0"/>
                <a:ea typeface="Nunito Sans ExtraBold" pitchFamily="34" charset="-122"/>
                <a:cs typeface="Nunito Sans ExtraBold" pitchFamily="34" charset="-120"/>
              </a:rPr>
              <a:t> </a:t>
            </a:r>
            <a:endParaRPr lang="en-US" sz="2800" dirty="0"/>
          </a:p>
        </p:txBody>
      </p:sp>
      <p:sp>
        <p:nvSpPr>
          <p:cNvPr id="4" name="600"/>
          <p:cNvSpPr/>
          <p:nvPr/>
        </p:nvSpPr>
        <p:spPr>
          <a:xfrm>
            <a:off x="806450" y="1539874"/>
            <a:ext cx="9074150" cy="211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500"/>
              </a:lnSpc>
            </a:pPr>
            <a:r>
              <a:rPr lang="ru-RU" sz="4400" b="1" dirty="0">
                <a:solidFill>
                  <a:srgbClr val="000000"/>
                </a:solidFill>
                <a:latin typeface="Nunito Sans Bold" pitchFamily="34" charset="0"/>
              </a:rPr>
              <a:t>Разработать модель для прогнозирования направления движения цен акций</a:t>
            </a:r>
            <a:endParaRPr lang="en-US" sz="4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7007000-E1BB-4E61-A29B-07780A3B50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49" y="1387476"/>
            <a:ext cx="7915276" cy="3959225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6250" y="6013450"/>
            <a:ext cx="1028700" cy="368300"/>
          </a:xfrm>
          <a:prstGeom prst="rect">
            <a:avLst/>
          </a:prstGeom>
        </p:spPr>
      </p:pic>
      <p:sp>
        <p:nvSpPr>
          <p:cNvPr id="3" name="default_name"/>
          <p:cNvSpPr/>
          <p:nvPr/>
        </p:nvSpPr>
        <p:spPr>
          <a:xfrm>
            <a:off x="476250" y="476250"/>
            <a:ext cx="3762057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3600" dirty="0">
                <a:solidFill>
                  <a:srgbClr val="000000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Актуальность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19125" y="1549399"/>
            <a:ext cx="7619999" cy="349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sz="27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Высокая волатильность и нестабильность финансовых рынков</a:t>
            </a:r>
            <a:endParaRPr lang="en-US" sz="2700" dirty="0">
              <a:solidFill>
                <a:srgbClr val="000000"/>
              </a:solidFill>
              <a:latin typeface="Nunito Sans SemiBold" pitchFamily="34" charset="0"/>
              <a:ea typeface="Nunito Sans SemiBold" pitchFamily="34" charset="-122"/>
              <a:cs typeface="Nunito Sans SemiBold" pitchFamily="34" charset="-120"/>
            </a:endParaRPr>
          </a:p>
          <a:p>
            <a:pPr marL="457200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sz="27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Прогноз помогает минимизировать риски и увеличить прибыль</a:t>
            </a:r>
          </a:p>
          <a:p>
            <a:pPr marL="457200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sz="27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Практический интерес – прогноз направления движения цены для принятия торговых решений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ECD53DF-264E-4E5B-9A5E-917403AE41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8473" y="1279525"/>
            <a:ext cx="2603500" cy="4298950"/>
          </a:xfrm>
          <a:prstGeom prst="rect">
            <a:avLst/>
          </a:prstGeom>
        </p:spPr>
      </p:pic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6250" y="6013450"/>
            <a:ext cx="1028700" cy="368300"/>
          </a:xfrm>
          <a:prstGeom prst="rect">
            <a:avLst/>
          </a:prstGeom>
        </p:spPr>
      </p:pic>
      <p:sp>
        <p:nvSpPr>
          <p:cNvPr id="3" name="default_name"/>
          <p:cNvSpPr/>
          <p:nvPr/>
        </p:nvSpPr>
        <p:spPr>
          <a:xfrm>
            <a:off x="597534" y="1460500"/>
            <a:ext cx="24161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ru-RU" sz="2000" b="1" dirty="0">
                <a:solidFill>
                  <a:srgbClr val="000000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Нестационарность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704848" y="2279046"/>
            <a:ext cx="2190750" cy="300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ru-RU" sz="2133" dirty="0">
                <a:solidFill>
                  <a:srgbClr val="000000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Статистические свойства(среднее, дисперсия) меняются со временем.</a:t>
            </a:r>
            <a:endParaRPr lang="en-US" sz="2133" dirty="0"/>
          </a:p>
        </p:txBody>
      </p:sp>
      <p:sp>
        <p:nvSpPr>
          <p:cNvPr id="11" name="default_name"/>
          <p:cNvSpPr/>
          <p:nvPr/>
        </p:nvSpPr>
        <p:spPr>
          <a:xfrm>
            <a:off x="476250" y="476250"/>
            <a:ext cx="93726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800">
                <a:solidFill>
                  <a:srgbClr val="2979FF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Особенности финансовых временных рядов</a:t>
            </a:r>
            <a:endParaRPr lang="en-US" sz="2800" dirty="0">
              <a:solidFill>
                <a:srgbClr val="2979FF"/>
              </a:solidFill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553B97C-7C54-4670-B829-C3C0BF31DA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1850" y="1279525"/>
            <a:ext cx="2603500" cy="4298950"/>
          </a:xfrm>
          <a:prstGeom prst="rect">
            <a:avLst/>
          </a:prstGeom>
        </p:spPr>
      </p:pic>
      <p:sp>
        <p:nvSpPr>
          <p:cNvPr id="16" name="default_name">
            <a:extLst>
              <a:ext uri="{FF2B5EF4-FFF2-40B4-BE49-F238E27FC236}">
                <a16:creationId xmlns:a16="http://schemas.microsoft.com/office/drawing/2014/main" id="{89A2F597-B6F1-4776-8B88-8DEE5D3C2803}"/>
              </a:ext>
            </a:extLst>
          </p:cNvPr>
          <p:cNvSpPr/>
          <p:nvPr/>
        </p:nvSpPr>
        <p:spPr>
          <a:xfrm>
            <a:off x="3699872" y="1459895"/>
            <a:ext cx="19474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ru-RU" sz="2000" b="1" dirty="0">
                <a:solidFill>
                  <a:srgbClr val="000000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Волатильность</a:t>
            </a:r>
            <a:endParaRPr lang="en-US" sz="20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F29CF344-3604-4C13-A41D-D64882ACC1C6}"/>
              </a:ext>
            </a:extLst>
          </p:cNvPr>
          <p:cNvSpPr/>
          <p:nvPr/>
        </p:nvSpPr>
        <p:spPr>
          <a:xfrm>
            <a:off x="3651251" y="2279046"/>
            <a:ext cx="2044700" cy="300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ru-RU" sz="2133" dirty="0">
                <a:solidFill>
                  <a:srgbClr val="000000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Периоды низких колебаний сменяются периодами высокой нестабильности</a:t>
            </a:r>
            <a:endParaRPr lang="en-US" sz="2133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0DF9634-1B39-40EB-B2DE-C0948EE90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5227" y="1279525"/>
            <a:ext cx="2603500" cy="4298950"/>
          </a:xfrm>
          <a:prstGeom prst="rect">
            <a:avLst/>
          </a:prstGeom>
        </p:spPr>
      </p:pic>
      <p:sp>
        <p:nvSpPr>
          <p:cNvPr id="19" name="default_name">
            <a:extLst>
              <a:ext uri="{FF2B5EF4-FFF2-40B4-BE49-F238E27FC236}">
                <a16:creationId xmlns:a16="http://schemas.microsoft.com/office/drawing/2014/main" id="{B36BA878-CED2-4982-9DDE-950F7C52C364}"/>
              </a:ext>
            </a:extLst>
          </p:cNvPr>
          <p:cNvSpPr/>
          <p:nvPr/>
        </p:nvSpPr>
        <p:spPr>
          <a:xfrm>
            <a:off x="6515102" y="1460500"/>
            <a:ext cx="19474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endParaRPr lang="en-US" sz="2000" dirty="0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EB689089-C2C8-4574-9DD4-69A2C957C5AB}"/>
              </a:ext>
            </a:extLst>
          </p:cNvPr>
          <p:cNvSpPr/>
          <p:nvPr/>
        </p:nvSpPr>
        <p:spPr>
          <a:xfrm>
            <a:off x="6515102" y="2279046"/>
            <a:ext cx="2200272" cy="300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ru-RU" sz="2133" dirty="0">
                <a:solidFill>
                  <a:srgbClr val="000000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Зависимости в данных сложны и не описываются линейными законами, а также маскируются </a:t>
            </a:r>
            <a:r>
              <a:rPr lang="en-US" sz="2133" dirty="0">
                <a:solidFill>
                  <a:srgbClr val="000000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«</a:t>
            </a:r>
            <a:r>
              <a:rPr lang="ru-RU" sz="2133" dirty="0">
                <a:solidFill>
                  <a:srgbClr val="000000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шумом</a:t>
            </a:r>
            <a:r>
              <a:rPr lang="en-US" sz="2133" dirty="0">
                <a:solidFill>
                  <a:srgbClr val="000000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»</a:t>
            </a:r>
            <a:endParaRPr lang="en-US" sz="2133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7F3C094-E7AC-4B98-BCE9-8989DE69F5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18603" y="1278920"/>
            <a:ext cx="2603500" cy="4298950"/>
          </a:xfrm>
          <a:prstGeom prst="rect">
            <a:avLst/>
          </a:prstGeom>
        </p:spPr>
      </p:pic>
      <p:sp>
        <p:nvSpPr>
          <p:cNvPr id="22" name="default_name">
            <a:extLst>
              <a:ext uri="{FF2B5EF4-FFF2-40B4-BE49-F238E27FC236}">
                <a16:creationId xmlns:a16="http://schemas.microsoft.com/office/drawing/2014/main" id="{C202791D-F98B-4934-BBB4-22CA2A2694D4}"/>
              </a:ext>
            </a:extLst>
          </p:cNvPr>
          <p:cNvSpPr/>
          <p:nvPr/>
        </p:nvSpPr>
        <p:spPr>
          <a:xfrm>
            <a:off x="9281712" y="1459895"/>
            <a:ext cx="2324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ru-RU" sz="2000" b="1" dirty="0">
                <a:solidFill>
                  <a:srgbClr val="000000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Внешние факторы</a:t>
            </a:r>
            <a:endParaRPr lang="en-US" sz="2000" dirty="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D7869881-B20A-4005-89BE-03328720EF17}"/>
              </a:ext>
            </a:extLst>
          </p:cNvPr>
          <p:cNvSpPr/>
          <p:nvPr/>
        </p:nvSpPr>
        <p:spPr>
          <a:xfrm>
            <a:off x="9388480" y="2279046"/>
            <a:ext cx="2044700" cy="300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ru-RU" sz="2133" dirty="0">
                <a:solidFill>
                  <a:srgbClr val="000000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На ряд влияют новости, отчеты компаний и макроэкономика</a:t>
            </a:r>
            <a:endParaRPr lang="en-US" sz="2133" dirty="0"/>
          </a:p>
        </p:txBody>
      </p:sp>
      <p:sp>
        <p:nvSpPr>
          <p:cNvPr id="24" name="default_name">
            <a:extLst>
              <a:ext uri="{FF2B5EF4-FFF2-40B4-BE49-F238E27FC236}">
                <a16:creationId xmlns:a16="http://schemas.microsoft.com/office/drawing/2014/main" id="{5417CB52-2F0D-4828-90A2-D38DC69B14C2}"/>
              </a:ext>
            </a:extLst>
          </p:cNvPr>
          <p:cNvSpPr/>
          <p:nvPr/>
        </p:nvSpPr>
        <p:spPr>
          <a:xfrm>
            <a:off x="6481173" y="1398588"/>
            <a:ext cx="211255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ru-RU" sz="2000" b="1" dirty="0">
                <a:solidFill>
                  <a:srgbClr val="000000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Нелинейность и шум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DDEA026E-E662-4F11-A42D-CD566D7556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8286" y="4816474"/>
            <a:ext cx="3050124" cy="1741644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90CBDE58-FFC1-4FCE-B58E-418668853C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91323" y="3454854"/>
            <a:ext cx="3098800" cy="244475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DD940FFA-A989-4045-AC9A-33CCD6F800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04950" y="1242333"/>
            <a:ext cx="9842500" cy="1435100"/>
          </a:xfrm>
          <a:prstGeom prst="rect">
            <a:avLst/>
          </a:prstGeom>
        </p:spPr>
      </p:pic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76250" y="6013450"/>
            <a:ext cx="1028700" cy="368300"/>
          </a:xfrm>
          <a:prstGeom prst="rect">
            <a:avLst/>
          </a:prstGeom>
        </p:spPr>
      </p:pic>
      <p:sp>
        <p:nvSpPr>
          <p:cNvPr id="3" name="default_name"/>
          <p:cNvSpPr/>
          <p:nvPr/>
        </p:nvSpPr>
        <p:spPr>
          <a:xfrm>
            <a:off x="476250" y="476250"/>
            <a:ext cx="3762057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3600" dirty="0">
                <a:solidFill>
                  <a:srgbClr val="000000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Этапы работы </a:t>
            </a:r>
            <a:endParaRPr lang="en-US" sz="3600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DD96F0B-C497-44F6-B564-A6BB082ECFF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6250" y="1180646"/>
            <a:ext cx="2400300" cy="118745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95D7DB63-9749-45E0-8222-745CC755450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15450" y="1180646"/>
            <a:ext cx="2400300" cy="1187450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00333508-6BB2-4B3D-BF05-66B0729F511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95850" y="1180646"/>
            <a:ext cx="2400300" cy="118745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06294409-1EB5-4D89-84BD-86A2DFF95D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4750" y="2192791"/>
            <a:ext cx="9842500" cy="1435100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9E0716D3-F00C-4328-8F93-F88BF4F614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66245" y="3207204"/>
            <a:ext cx="9842500" cy="143510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B38C5C69-8126-4535-A99E-1D9464A99DD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7545" y="3145518"/>
            <a:ext cx="2400300" cy="118745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A62FA638-7987-4F63-939A-EEFC72BB47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76745" y="3145518"/>
            <a:ext cx="2400300" cy="1187450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4C7A96AA-670B-49C6-A2CF-E4762534A35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57145" y="3145518"/>
            <a:ext cx="2400300" cy="118745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1741A4E-B7BF-4CD5-A633-A2CDA25C3C6D}"/>
              </a:ext>
            </a:extLst>
          </p:cNvPr>
          <p:cNvSpPr txBox="1"/>
          <p:nvPr/>
        </p:nvSpPr>
        <p:spPr>
          <a:xfrm>
            <a:off x="602766" y="1281515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Nunito Sans Bold"/>
                <a:ea typeface="Nunito Sans SemiBold"/>
              </a:rPr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EDE541-D66D-4FDE-985A-C9827985E8E7}"/>
              </a:ext>
            </a:extLst>
          </p:cNvPr>
          <p:cNvSpPr txBox="1"/>
          <p:nvPr/>
        </p:nvSpPr>
        <p:spPr>
          <a:xfrm>
            <a:off x="533718" y="1539886"/>
            <a:ext cx="22946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Nunito" pitchFamily="2" charset="-52"/>
                <a:ea typeface="Nunito Sans SemiBold"/>
              </a:rPr>
              <a:t>Собрать и предобработать исторические данные </a:t>
            </a:r>
            <a:endParaRPr lang="en-US" sz="1600" dirty="0">
              <a:latin typeface="Nunito" pitchFamily="2" charset="-52"/>
              <a:ea typeface="Nunito Sans SemiBold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D396DD-DE3E-4C1F-A980-5BAF6770E348}"/>
              </a:ext>
            </a:extLst>
          </p:cNvPr>
          <p:cNvSpPr txBox="1"/>
          <p:nvPr/>
        </p:nvSpPr>
        <p:spPr>
          <a:xfrm>
            <a:off x="5028285" y="1281515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Nunito Sans Bold"/>
                <a:ea typeface="Nunito Sans SemiBold"/>
              </a:rPr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AC39D2-F130-4DA4-8711-C0BFE098601B}"/>
              </a:ext>
            </a:extLst>
          </p:cNvPr>
          <p:cNvSpPr txBox="1"/>
          <p:nvPr/>
        </p:nvSpPr>
        <p:spPr>
          <a:xfrm>
            <a:off x="4962843" y="1543098"/>
            <a:ext cx="21969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Nunito" pitchFamily="2" charset="-52"/>
                <a:ea typeface="Nunito Sans SemiBold"/>
              </a:rPr>
              <a:t>Провести разведочный анализ и визуализацию</a:t>
            </a:r>
            <a:endParaRPr lang="en-US" sz="1600" dirty="0">
              <a:latin typeface="Nunito" pitchFamily="2" charset="-52"/>
              <a:ea typeface="Nunito Sans SemiBold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2E5F91-6F91-4BE2-A5B8-8DD75AF24381}"/>
              </a:ext>
            </a:extLst>
          </p:cNvPr>
          <p:cNvSpPr txBox="1"/>
          <p:nvPr/>
        </p:nvSpPr>
        <p:spPr>
          <a:xfrm>
            <a:off x="9446003" y="1275490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Nunito Sans Bold"/>
                <a:ea typeface="Nunito Sans SemiBold"/>
              </a:rPr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63BAAE-5735-4ECF-82E2-31100CABCD43}"/>
              </a:ext>
            </a:extLst>
          </p:cNvPr>
          <p:cNvSpPr txBox="1"/>
          <p:nvPr/>
        </p:nvSpPr>
        <p:spPr>
          <a:xfrm>
            <a:off x="9380560" y="1615903"/>
            <a:ext cx="2277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Nunito" pitchFamily="2" charset="-52"/>
                <a:ea typeface="Nunito Sans SemiBold"/>
              </a:rPr>
              <a:t>Сформулировать целевую переменную</a:t>
            </a:r>
            <a:endParaRPr lang="en-US" sz="1600" dirty="0">
              <a:latin typeface="Nunito" pitchFamily="2" charset="-52"/>
              <a:ea typeface="Nunito Sans SemiBold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D25B391-74B8-41F8-B9AA-D638AC794A0D}"/>
              </a:ext>
            </a:extLst>
          </p:cNvPr>
          <p:cNvSpPr txBox="1"/>
          <p:nvPr/>
        </p:nvSpPr>
        <p:spPr>
          <a:xfrm>
            <a:off x="566011" y="3250355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Nunito Sans Bold"/>
                <a:ea typeface="Nunito Sans SemiBold"/>
              </a:rPr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C6FC642-378D-4990-B0EE-60F1505330C9}"/>
              </a:ext>
            </a:extLst>
          </p:cNvPr>
          <p:cNvSpPr txBox="1"/>
          <p:nvPr/>
        </p:nvSpPr>
        <p:spPr>
          <a:xfrm>
            <a:off x="506488" y="3506019"/>
            <a:ext cx="21969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Nunito" pitchFamily="2" charset="-52"/>
                <a:ea typeface="Nunito Sans SemiBold"/>
              </a:rPr>
              <a:t>Создать прогнозные признаки без утечки данных</a:t>
            </a:r>
            <a:endParaRPr lang="en-US" sz="1600" dirty="0">
              <a:latin typeface="Nunito" pitchFamily="2" charset="-52"/>
              <a:ea typeface="Nunito Sans SemiBold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1C81840-460E-4FC8-B4AB-863F6F72AB68}"/>
              </a:ext>
            </a:extLst>
          </p:cNvPr>
          <p:cNvSpPr txBox="1"/>
          <p:nvPr/>
        </p:nvSpPr>
        <p:spPr>
          <a:xfrm>
            <a:off x="4986527" y="3250366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Nunito Sans Bold"/>
                <a:ea typeface="Nunito Sans SemiBold"/>
              </a:rPr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CD56B08-2F47-4E73-9B15-8C8ACD1C0039}"/>
              </a:ext>
            </a:extLst>
          </p:cNvPr>
          <p:cNvSpPr txBox="1"/>
          <p:nvPr/>
        </p:nvSpPr>
        <p:spPr>
          <a:xfrm>
            <a:off x="4927004" y="3584860"/>
            <a:ext cx="21969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Nunito" pitchFamily="2" charset="-52"/>
                <a:ea typeface="Nunito Sans SemiBold"/>
              </a:rPr>
              <a:t>Построить и обучить несколько моделей</a:t>
            </a:r>
            <a:endParaRPr lang="en-US" sz="1600" dirty="0">
              <a:latin typeface="Nunito" pitchFamily="2" charset="-52"/>
              <a:ea typeface="Nunito Sans SemiBold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C683BD0-8085-485B-9167-AC2ECA28E4D5}"/>
              </a:ext>
            </a:extLst>
          </p:cNvPr>
          <p:cNvSpPr txBox="1"/>
          <p:nvPr/>
        </p:nvSpPr>
        <p:spPr>
          <a:xfrm>
            <a:off x="9406427" y="3246715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Nunito Sans Bold"/>
                <a:ea typeface="Nunito Sans SemiBold"/>
              </a:rPr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CFCA44-2C12-4AD7-B3B4-2FD7C168A9A7}"/>
              </a:ext>
            </a:extLst>
          </p:cNvPr>
          <p:cNvSpPr txBox="1"/>
          <p:nvPr/>
        </p:nvSpPr>
        <p:spPr>
          <a:xfrm>
            <a:off x="9340986" y="3581210"/>
            <a:ext cx="21969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Nunito" pitchFamily="2" charset="-52"/>
                <a:ea typeface="Nunito Sans SemiBold"/>
              </a:rPr>
              <a:t>Оценить и сравнить качество моделей</a:t>
            </a:r>
            <a:endParaRPr lang="en-US" sz="1600" dirty="0">
              <a:latin typeface="Nunito" pitchFamily="2" charset="-52"/>
              <a:ea typeface="Nunito Sans SemiBold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3A3E75E-0F50-4EBC-9252-BC13DC325519}"/>
              </a:ext>
            </a:extLst>
          </p:cNvPr>
          <p:cNvSpPr txBox="1"/>
          <p:nvPr/>
        </p:nvSpPr>
        <p:spPr>
          <a:xfrm>
            <a:off x="5193356" y="5037867"/>
            <a:ext cx="3080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Nunito Sans Bold"/>
                <a:ea typeface="Nunito Sans SemiBold"/>
              </a:rPr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B2B0F15-5EEB-4EA3-92F7-9A3547F10CC4}"/>
              </a:ext>
            </a:extLst>
          </p:cNvPr>
          <p:cNvSpPr txBox="1"/>
          <p:nvPr/>
        </p:nvSpPr>
        <p:spPr>
          <a:xfrm>
            <a:off x="5140576" y="5540773"/>
            <a:ext cx="28663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Nunito" pitchFamily="2" charset="-52"/>
                <a:ea typeface="Nunito Sans SemiBold"/>
              </a:rPr>
              <a:t>Разработать веб-приложение для визуализации прогнозов</a:t>
            </a:r>
            <a:endParaRPr lang="en-US" sz="1600" dirty="0">
              <a:latin typeface="Nunito" pitchFamily="2" charset="-52"/>
              <a:ea typeface="Nunito Sans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8BB9C8C-9021-4620-912B-80B1E394DF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6650" y="3457257"/>
            <a:ext cx="5499100" cy="19050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4EDE942-34C8-4F27-AE6E-578CC38722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3457257"/>
            <a:ext cx="5499100" cy="1905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7A81B56-4974-44FC-9651-2FB7CFB9F9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6650" y="1260475"/>
            <a:ext cx="5499100" cy="1905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552F777-E6B0-467E-93BE-2D37E371A2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1260475"/>
            <a:ext cx="5499100" cy="1905000"/>
          </a:xfrm>
          <a:prstGeom prst="rect">
            <a:avLst/>
          </a:prstGeom>
        </p:spPr>
      </p:pic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6250" y="6013450"/>
            <a:ext cx="1028700" cy="368300"/>
          </a:xfrm>
          <a:prstGeom prst="rect">
            <a:avLst/>
          </a:prstGeom>
        </p:spPr>
      </p:pic>
      <p:sp>
        <p:nvSpPr>
          <p:cNvPr id="3" name="default_name"/>
          <p:cNvSpPr/>
          <p:nvPr/>
        </p:nvSpPr>
        <p:spPr>
          <a:xfrm>
            <a:off x="476250" y="476250"/>
            <a:ext cx="6734175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3600" dirty="0">
                <a:solidFill>
                  <a:srgbClr val="000000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Сбор и обработка данных</a:t>
            </a:r>
            <a:endParaRPr lang="en-US" sz="3600" dirty="0"/>
          </a:p>
          <a:p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35000" y="1454150"/>
            <a:ext cx="4997450" cy="151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4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 помощью Yahoo Finance были собраны исторические данные акций Apple за 5 лет.</a:t>
            </a:r>
          </a:p>
        </p:txBody>
      </p:sp>
      <p:sp>
        <p:nvSpPr>
          <p:cNvPr id="5" name="Text 2"/>
          <p:cNvSpPr/>
          <p:nvPr/>
        </p:nvSpPr>
        <p:spPr>
          <a:xfrm>
            <a:off x="6375400" y="1397000"/>
            <a:ext cx="4997450" cy="151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4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Собраны ключевые биржевые показатели: цены открытия, закрытия, экстремумы и объемы торгов.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35000" y="3587750"/>
            <a:ext cx="499745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4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Проведена проверка данных на целостность и пропуски. Все некорректные значения были исключены из набора данных.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375400" y="3587750"/>
            <a:ext cx="499745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4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После обработки сформирован готовый датасет, содержащий примерно 1300 торговых дней.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7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fault_name"/>
          <p:cNvSpPr/>
          <p:nvPr/>
        </p:nvSpPr>
        <p:spPr>
          <a:xfrm>
            <a:off x="476250" y="476250"/>
            <a:ext cx="68199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3600" dirty="0">
                <a:solidFill>
                  <a:srgbClr val="FFFFFF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Разведочный анализ данных</a:t>
            </a:r>
            <a:endParaRPr lang="en-US" sz="3600" dirty="0"/>
          </a:p>
        </p:txBody>
      </p:sp>
      <p:pic>
        <p:nvPicPr>
          <p:cNvPr id="5" name="White_pixel_logoFTC.png" descr="preencoded.png">
            <a:extLst>
              <a:ext uri="{FF2B5EF4-FFF2-40B4-BE49-F238E27FC236}">
                <a16:creationId xmlns:a16="http://schemas.microsoft.com/office/drawing/2014/main" id="{C336B0A1-3E90-449F-9F41-50ECE828E2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6013450"/>
            <a:ext cx="1028700" cy="3683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40E7804-223D-4308-B151-ECCCC7BB85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6000" y="1346200"/>
            <a:ext cx="7172960" cy="4344484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7B7C219-B146-458C-99CE-3567877CB4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6250" y="1346200"/>
            <a:ext cx="4166870" cy="4344484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3E0AB12C-F6A2-47C5-853F-7192B07F230B}"/>
              </a:ext>
            </a:extLst>
          </p:cNvPr>
          <p:cNvSpPr/>
          <p:nvPr/>
        </p:nvSpPr>
        <p:spPr>
          <a:xfrm>
            <a:off x="476250" y="1505492"/>
            <a:ext cx="4043680" cy="402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0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Ярко выраженный восходящий тренд.</a:t>
            </a:r>
          </a:p>
          <a:p>
            <a:pPr marL="180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Периодические коррекции и высокая волатильность.</a:t>
            </a:r>
          </a:p>
          <a:p>
            <a:pPr marL="180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Отсутствие явной сезонности.</a:t>
            </a:r>
          </a:p>
          <a:p>
            <a:pPr marL="180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2979FF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Подтверждение нестационарности ряда.</a:t>
            </a:r>
            <a:endParaRPr lang="en-US" sz="26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FEC3E8B-35E5-4013-A718-C0283A42B24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206"/>
          <a:stretch/>
        </p:blipFill>
        <p:spPr>
          <a:xfrm>
            <a:off x="4826000" y="1701010"/>
            <a:ext cx="7091680" cy="35984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7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fault_name"/>
          <p:cNvSpPr/>
          <p:nvPr/>
        </p:nvSpPr>
        <p:spPr>
          <a:xfrm>
            <a:off x="476250" y="476250"/>
            <a:ext cx="865759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3600" dirty="0">
                <a:solidFill>
                  <a:srgbClr val="FFFFFF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Формирование целевой переменной</a:t>
            </a:r>
            <a:endParaRPr lang="en-US" sz="3600" dirty="0"/>
          </a:p>
        </p:txBody>
      </p:sp>
      <p:pic>
        <p:nvPicPr>
          <p:cNvPr id="5" name="White_pixel_logoFTC.png" descr="preencoded.png">
            <a:extLst>
              <a:ext uri="{FF2B5EF4-FFF2-40B4-BE49-F238E27FC236}">
                <a16:creationId xmlns:a16="http://schemas.microsoft.com/office/drawing/2014/main" id="{C336B0A1-3E90-449F-9F41-50ECE828E2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6013450"/>
            <a:ext cx="1028700" cy="3683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40E7804-223D-4308-B151-ECCCC7BB85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6651" y="1346200"/>
            <a:ext cx="5499100" cy="4344484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7B7C219-B146-458C-99CE-3567877CB4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6250" y="1346200"/>
            <a:ext cx="5499100" cy="4344484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3E0AB12C-F6A2-47C5-853F-7192B07F230B}"/>
              </a:ext>
            </a:extLst>
          </p:cNvPr>
          <p:cNvSpPr/>
          <p:nvPr/>
        </p:nvSpPr>
        <p:spPr>
          <a:xfrm>
            <a:off x="699076" y="1730375"/>
            <a:ext cx="5193723" cy="145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500"/>
              </a:lnSpc>
            </a:pPr>
            <a:r>
              <a:rPr lang="ru-RU" sz="2600" dirty="0">
                <a:latin typeface="Nunito Sans SemiBold" pitchFamily="34" charset="0"/>
              </a:rPr>
              <a:t>Target = 1 - если цена растет</a:t>
            </a:r>
          </a:p>
          <a:p>
            <a:pPr>
              <a:lnSpc>
                <a:spcPct val="112500"/>
              </a:lnSpc>
            </a:pPr>
            <a:r>
              <a:rPr lang="ru-RU" sz="2600" dirty="0">
                <a:latin typeface="Nunito Sans SemiBold" pitchFamily="34" charset="0"/>
              </a:rPr>
              <a:t>Target = 0 - если цена падает или не меняется</a:t>
            </a:r>
            <a:endParaRPr lang="en-US" sz="2600" dirty="0">
              <a:latin typeface="Nunito Sans SemiBold" pitchFamily="34" charset="0"/>
            </a:endParaRPr>
          </a:p>
          <a:p>
            <a:pPr>
              <a:lnSpc>
                <a:spcPct val="112500"/>
              </a:lnSpc>
            </a:pPr>
            <a:endParaRPr lang="en-US" sz="26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4C6C8945-292F-44BE-881E-C203765CE7EB}"/>
              </a:ext>
            </a:extLst>
          </p:cNvPr>
          <p:cNvSpPr/>
          <p:nvPr/>
        </p:nvSpPr>
        <p:spPr>
          <a:xfrm>
            <a:off x="699077" y="3342640"/>
            <a:ext cx="5193723" cy="231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500"/>
              </a:lnSpc>
            </a:pPr>
            <a:r>
              <a:rPr lang="ru-RU" sz="2600" dirty="0">
                <a:solidFill>
                  <a:srgbClr val="2979FF"/>
                </a:solidFill>
                <a:latin typeface="Nunito Sans SemiBold" pitchFamily="34" charset="0"/>
              </a:rPr>
              <a:t>Практическая значимость для трейдеров.</a:t>
            </a:r>
          </a:p>
          <a:p>
            <a:pPr>
              <a:lnSpc>
                <a:spcPct val="112500"/>
              </a:lnSpc>
            </a:pPr>
            <a:r>
              <a:rPr lang="ru-RU" sz="2600" dirty="0">
                <a:solidFill>
                  <a:srgbClr val="2979FF"/>
                </a:solidFill>
                <a:latin typeface="Nunito Sans SemiBold" pitchFamily="34" charset="0"/>
              </a:rPr>
              <a:t>Устойчивость к шуму.</a:t>
            </a:r>
          </a:p>
          <a:p>
            <a:pPr>
              <a:lnSpc>
                <a:spcPct val="112500"/>
              </a:lnSpc>
            </a:pPr>
            <a:r>
              <a:rPr lang="ru-RU" sz="2600" dirty="0">
                <a:solidFill>
                  <a:srgbClr val="2979FF"/>
                </a:solidFill>
                <a:latin typeface="Nunito Sans SemiBold" pitchFamily="34" charset="0"/>
              </a:rPr>
              <a:t>Простота интерпретации.</a:t>
            </a:r>
            <a:endParaRPr lang="en-US" sz="2600" dirty="0">
              <a:solidFill>
                <a:srgbClr val="2979FF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68C33EB-10D1-4282-A3B4-5380F74DDC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6652" y="1808479"/>
            <a:ext cx="5458734" cy="35124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DFEC601-483D-466D-A836-9D61D6628C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18200" y="1352550"/>
            <a:ext cx="5913664" cy="4382134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AA63892-FD76-4890-A76F-6BF70140A2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1368426"/>
            <a:ext cx="5194300" cy="4382134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6250" y="6013450"/>
            <a:ext cx="1028700" cy="368300"/>
          </a:xfrm>
          <a:prstGeom prst="rect">
            <a:avLst/>
          </a:prstGeom>
        </p:spPr>
      </p:pic>
      <p:sp>
        <p:nvSpPr>
          <p:cNvPr id="3" name="default_name"/>
          <p:cNvSpPr/>
          <p:nvPr/>
        </p:nvSpPr>
        <p:spPr>
          <a:xfrm>
            <a:off x="476250" y="476250"/>
            <a:ext cx="996823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3600" dirty="0">
                <a:solidFill>
                  <a:srgbClr val="000000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Создание признаков и борьба с утечкой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23900" y="1492250"/>
            <a:ext cx="4467860" cy="3872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ru-RU" sz="2400" dirty="0">
                <a:solidFill>
                  <a:srgbClr val="000000"/>
                </a:solidFill>
                <a:latin typeface="Nunito Regular" pitchFamily="34" charset="0"/>
                <a:ea typeface="Nunito Regular" pitchFamily="34" charset="-122"/>
                <a:cs typeface="Nunito Regular" pitchFamily="34" charset="-120"/>
              </a:rPr>
              <a:t>Изначально использовался дифференцированный ряд: </a:t>
            </a:r>
            <a:r>
              <a:rPr lang="en-US" sz="2400" dirty="0">
                <a:solidFill>
                  <a:srgbClr val="000000"/>
                </a:solidFill>
                <a:latin typeface="Nunito Regular" pitchFamily="34" charset="0"/>
                <a:ea typeface="Nunito Regular" pitchFamily="34" charset="-122"/>
                <a:cs typeface="Nunito Regular" pitchFamily="34" charset="-120"/>
              </a:rPr>
              <a:t>Close(t) – Close(t - 1)</a:t>
            </a:r>
          </a:p>
          <a:p>
            <a:pPr>
              <a:lnSpc>
                <a:spcPct val="125000"/>
              </a:lnSpc>
            </a:pPr>
            <a:r>
              <a:rPr lang="ru-RU" sz="2400" dirty="0">
                <a:solidFill>
                  <a:srgbClr val="000000"/>
                </a:solidFill>
                <a:latin typeface="Nunito Regular" pitchFamily="34" charset="0"/>
                <a:ea typeface="Nunito Regular" pitchFamily="34" charset="-122"/>
                <a:cs typeface="Nunito Regular" pitchFamily="34" charset="-120"/>
              </a:rPr>
              <a:t>Что привело к утечке будущего в признаки, так как разница для дня </a:t>
            </a:r>
            <a:r>
              <a:rPr lang="en-US" sz="2400" dirty="0">
                <a:solidFill>
                  <a:srgbClr val="000000"/>
                </a:solidFill>
                <a:latin typeface="Nunito Regular" pitchFamily="34" charset="0"/>
                <a:ea typeface="Nunito Regular" pitchFamily="34" charset="-122"/>
                <a:cs typeface="Nunito Regular" pitchFamily="34" charset="-120"/>
              </a:rPr>
              <a:t>t </a:t>
            </a:r>
            <a:r>
              <a:rPr lang="ru-RU" sz="2400" dirty="0">
                <a:solidFill>
                  <a:srgbClr val="000000"/>
                </a:solidFill>
                <a:latin typeface="Nunito Regular" pitchFamily="34" charset="0"/>
                <a:ea typeface="Nunito Regular" pitchFamily="34" charset="-122"/>
                <a:cs typeface="Nunito Regular" pitchFamily="34" charset="-120"/>
              </a:rPr>
              <a:t>вычисляется по данным этого же дня.  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D4D2BBA-DF34-4ACF-9823-C8F9C88D952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5051"/>
          <a:stretch/>
        </p:blipFill>
        <p:spPr>
          <a:xfrm>
            <a:off x="5969262" y="1696720"/>
            <a:ext cx="5862602" cy="302767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A795F47-D56E-4999-82C7-6428D27833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95322" y="4901881"/>
            <a:ext cx="3410481" cy="711833"/>
          </a:xfrm>
          <a:prstGeom prst="rect">
            <a:avLst/>
          </a:prstGeom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812BC8D7-58D6-45B4-A454-2F99D528A0FA}"/>
              </a:ext>
            </a:extLst>
          </p:cNvPr>
          <p:cNvSpPr/>
          <p:nvPr/>
        </p:nvSpPr>
        <p:spPr>
          <a:xfrm>
            <a:off x="7322139" y="4922360"/>
            <a:ext cx="3105785" cy="772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ru-RU" dirty="0">
                <a:solidFill>
                  <a:schemeClr val="bg1"/>
                </a:solidFill>
                <a:latin typeface="Nunito Regular" pitchFamily="34" charset="0"/>
                <a:ea typeface="Nunito Regular" pitchFamily="34" charset="-122"/>
                <a:cs typeface="Nunito Regular" pitchFamily="34" charset="-120"/>
              </a:rPr>
              <a:t>Дифференцированный ряд цен закрытия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1BA6728-B636-4739-A204-5F21877CFA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1279525"/>
            <a:ext cx="5416550" cy="4633595"/>
          </a:xfrm>
          <a:prstGeom prst="rect">
            <a:avLst/>
          </a:prstGeom>
        </p:spPr>
      </p:pic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6250" y="6104890"/>
            <a:ext cx="1028700" cy="368300"/>
          </a:xfrm>
          <a:prstGeom prst="rect">
            <a:avLst/>
          </a:prstGeom>
        </p:spPr>
      </p:pic>
      <p:sp>
        <p:nvSpPr>
          <p:cNvPr id="3" name="default_name"/>
          <p:cNvSpPr/>
          <p:nvPr/>
        </p:nvSpPr>
        <p:spPr>
          <a:xfrm>
            <a:off x="476250" y="476250"/>
            <a:ext cx="1028319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3600" dirty="0">
                <a:solidFill>
                  <a:srgbClr val="000000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Создание признаков и борьба с утечкой</a:t>
            </a:r>
            <a:endParaRPr lang="en-US" sz="3600" dirty="0"/>
          </a:p>
        </p:txBody>
      </p:sp>
      <p:sp>
        <p:nvSpPr>
          <p:cNvPr id="4" name="default_name"/>
          <p:cNvSpPr/>
          <p:nvPr/>
        </p:nvSpPr>
        <p:spPr>
          <a:xfrm>
            <a:off x="2022475" y="1557638"/>
            <a:ext cx="2324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ru-RU" sz="2500" b="1" dirty="0">
                <a:solidFill>
                  <a:srgbClr val="000000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Решение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768350" y="2554914"/>
            <a:ext cx="4845050" cy="2767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0000" indent="-1800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Отказ от прямого использования дифференцированного ряда</a:t>
            </a:r>
          </a:p>
          <a:p>
            <a:pPr marL="180000" indent="-1800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Вместо этого использованы лаги дифференцированного ряда</a:t>
            </a:r>
            <a:r>
              <a:rPr lang="en-US" sz="2400" dirty="0"/>
              <a:t>, </a:t>
            </a:r>
            <a:r>
              <a:rPr lang="ru-RU" sz="2400" dirty="0"/>
              <a:t>к примеру </a:t>
            </a:r>
            <a:r>
              <a:rPr lang="en-US" sz="2400" dirty="0"/>
              <a:t>Close(t - 1) – Close(t - 2</a:t>
            </a:r>
            <a:r>
              <a:rPr lang="ru-RU" sz="2400" dirty="0"/>
              <a:t>)</a:t>
            </a:r>
            <a:endParaRPr lang="en-US" sz="2400" dirty="0"/>
          </a:p>
          <a:p>
            <a:pPr>
              <a:lnSpc>
                <a:spcPct val="125000"/>
              </a:lnSpc>
            </a:pPr>
            <a:endParaRPr lang="en-US" sz="24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C8CAD47-B66F-4FCF-965A-B12CF22473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9200" y="1279525"/>
            <a:ext cx="5416550" cy="4633595"/>
          </a:xfrm>
          <a:prstGeom prst="rect">
            <a:avLst/>
          </a:prstGeom>
        </p:spPr>
      </p:pic>
      <p:sp>
        <p:nvSpPr>
          <p:cNvPr id="12" name="default_name">
            <a:extLst>
              <a:ext uri="{FF2B5EF4-FFF2-40B4-BE49-F238E27FC236}">
                <a16:creationId xmlns:a16="http://schemas.microsoft.com/office/drawing/2014/main" id="{3EEEAC80-FF48-4D19-84D4-AF9BE0729B9F}"/>
              </a:ext>
            </a:extLst>
          </p:cNvPr>
          <p:cNvSpPr/>
          <p:nvPr/>
        </p:nvSpPr>
        <p:spPr>
          <a:xfrm>
            <a:off x="7681595" y="1560796"/>
            <a:ext cx="279273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ru-RU" sz="2500" b="1" dirty="0">
                <a:solidFill>
                  <a:srgbClr val="000000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Итоговый набор</a:t>
            </a:r>
            <a:r>
              <a:rPr lang="en-US" sz="2500" b="1" dirty="0">
                <a:solidFill>
                  <a:srgbClr val="000000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 </a:t>
            </a:r>
            <a:endParaRPr lang="en-US" sz="2500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7D21F3C6-30C7-41DA-9738-69B04654D472}"/>
              </a:ext>
            </a:extLst>
          </p:cNvPr>
          <p:cNvSpPr/>
          <p:nvPr/>
        </p:nvSpPr>
        <p:spPr>
          <a:xfrm>
            <a:off x="6512560" y="2554914"/>
            <a:ext cx="5130800" cy="327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0000" indent="-1800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Лаги исходных цен и от дифф</a:t>
            </a:r>
            <a:r>
              <a:rPr lang="en-US" sz="2400" dirty="0">
                <a:solidFill>
                  <a:srgbClr val="000000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.</a:t>
            </a:r>
            <a:r>
              <a:rPr lang="ru-RU" sz="2400" dirty="0">
                <a:solidFill>
                  <a:srgbClr val="000000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 ряда</a:t>
            </a:r>
          </a:p>
          <a:p>
            <a:pPr marL="180000" indent="-1800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Скользящие статистики</a:t>
            </a:r>
            <a:r>
              <a:rPr lang="en-US" sz="2400" dirty="0">
                <a:solidFill>
                  <a:srgbClr val="000000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с временным сдвигом</a:t>
            </a:r>
          </a:p>
          <a:p>
            <a:pPr marL="180000" indent="-1800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Технические индикаторы на лагированных данных</a:t>
            </a:r>
          </a:p>
          <a:p>
            <a:pPr marL="180000" indent="-1800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Временные признаки (день недели, месяц)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286FE5"/>
            </a:gs>
            <a:gs pos="0">
              <a:srgbClr val="3E719B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fault_name"/>
          <p:cNvSpPr/>
          <p:nvPr/>
        </p:nvSpPr>
        <p:spPr>
          <a:xfrm>
            <a:off x="476250" y="476250"/>
            <a:ext cx="4839821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/>
            <a:r>
              <a:rPr lang="ru-RU" sz="3600" dirty="0">
                <a:solidFill>
                  <a:srgbClr val="FFFFFF"/>
                </a:solidFill>
                <a:latin typeface="Nunito ExtraBold" pitchFamily="34" charset="0"/>
              </a:rPr>
              <a:t>Обучение моделей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White_pixel_logoFTC.png" descr="preencoded.png">
            <a:extLst>
              <a:ext uri="{FF2B5EF4-FFF2-40B4-BE49-F238E27FC236}">
                <a16:creationId xmlns:a16="http://schemas.microsoft.com/office/drawing/2014/main" id="{2833C6C1-A710-4D2D-AD86-63C16E4815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6238240"/>
            <a:ext cx="1028700" cy="368300"/>
          </a:xfrm>
          <a:prstGeom prst="rect">
            <a:avLst/>
          </a:prstGeom>
        </p:spPr>
      </p:pic>
      <p:graphicFrame>
        <p:nvGraphicFramePr>
          <p:cNvPr id="3" name="Таблица 4">
            <a:extLst>
              <a:ext uri="{FF2B5EF4-FFF2-40B4-BE49-F238E27FC236}">
                <a16:creationId xmlns:a16="http://schemas.microsoft.com/office/drawing/2014/main" id="{4E1D6452-8557-4CF8-A188-1E8B53915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749854"/>
              </p:ext>
            </p:extLst>
          </p:nvPr>
        </p:nvGraphicFramePr>
        <p:xfrm>
          <a:off x="1012188" y="1236345"/>
          <a:ext cx="10167624" cy="4775454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694604">
                  <a:extLst>
                    <a:ext uri="{9D8B030D-6E8A-4147-A177-3AD203B41FA5}">
                      <a16:colId xmlns:a16="http://schemas.microsoft.com/office/drawing/2014/main" val="23193438"/>
                    </a:ext>
                  </a:extLst>
                </a:gridCol>
                <a:gridCol w="1694604">
                  <a:extLst>
                    <a:ext uri="{9D8B030D-6E8A-4147-A177-3AD203B41FA5}">
                      <a16:colId xmlns:a16="http://schemas.microsoft.com/office/drawing/2014/main" val="1225616530"/>
                    </a:ext>
                  </a:extLst>
                </a:gridCol>
                <a:gridCol w="1694604">
                  <a:extLst>
                    <a:ext uri="{9D8B030D-6E8A-4147-A177-3AD203B41FA5}">
                      <a16:colId xmlns:a16="http://schemas.microsoft.com/office/drawing/2014/main" val="1697662783"/>
                    </a:ext>
                  </a:extLst>
                </a:gridCol>
                <a:gridCol w="1694604">
                  <a:extLst>
                    <a:ext uri="{9D8B030D-6E8A-4147-A177-3AD203B41FA5}">
                      <a16:colId xmlns:a16="http://schemas.microsoft.com/office/drawing/2014/main" val="2533086149"/>
                    </a:ext>
                  </a:extLst>
                </a:gridCol>
                <a:gridCol w="1694604">
                  <a:extLst>
                    <a:ext uri="{9D8B030D-6E8A-4147-A177-3AD203B41FA5}">
                      <a16:colId xmlns:a16="http://schemas.microsoft.com/office/drawing/2014/main" val="691575780"/>
                    </a:ext>
                  </a:extLst>
                </a:gridCol>
                <a:gridCol w="1694604">
                  <a:extLst>
                    <a:ext uri="{9D8B030D-6E8A-4147-A177-3AD203B41FA5}">
                      <a16:colId xmlns:a16="http://schemas.microsoft.com/office/drawing/2014/main" val="3491225152"/>
                    </a:ext>
                  </a:extLst>
                </a:gridCol>
              </a:tblGrid>
              <a:tr h="6356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Модель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Accuracy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Precision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Recall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F1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ROC–AUC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10968211"/>
                  </a:ext>
                </a:extLst>
              </a:tr>
              <a:tr h="6356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Logistic Regression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0.7935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0.7547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0.9091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0.8247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0.8655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035350"/>
                  </a:ext>
                </a:extLst>
              </a:tr>
              <a:tr h="6356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Gradient Boosting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0.5789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0.5660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0.9091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0.6977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0.6062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384918"/>
                  </a:ext>
                </a:extLst>
              </a:tr>
              <a:tr h="6356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Random Forest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0.5466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0.5549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0.7652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0.6433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0.5753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460142"/>
                  </a:ext>
                </a:extLst>
              </a:tr>
              <a:tr h="6356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XGBoost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0.5385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0.5542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0.6970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0.6174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0.5621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54993"/>
                  </a:ext>
                </a:extLst>
              </a:tr>
              <a:tr h="6356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Voting Ensemble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0.6316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0.6258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>
                          <a:solidFill>
                            <a:schemeClr val="bg1"/>
                          </a:solidFill>
                          <a:effectLst/>
                        </a:rPr>
                        <a:t>0.7727</a:t>
                      </a:r>
                      <a:endParaRPr lang="ru-RU" sz="200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0.6915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solidFill>
                            <a:schemeClr val="bg1"/>
                          </a:solidFill>
                          <a:effectLst/>
                        </a:rPr>
                        <a:t>0.7086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Nunito Sans SemiBold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28395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7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hite_pixel_logoFTC.png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6013450"/>
            <a:ext cx="1028700" cy="368300"/>
          </a:xfrm>
          <a:prstGeom prst="rect">
            <a:avLst/>
          </a:prstGeom>
        </p:spPr>
      </p:pic>
      <p:sp>
        <p:nvSpPr>
          <p:cNvPr id="5" name="default_name"/>
          <p:cNvSpPr/>
          <p:nvPr/>
        </p:nvSpPr>
        <p:spPr>
          <a:xfrm>
            <a:off x="476250" y="320767"/>
            <a:ext cx="721487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3600" dirty="0">
                <a:solidFill>
                  <a:schemeClr val="bg1"/>
                </a:solidFill>
              </a:rPr>
              <a:t>Визуальный анализ результатов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E5644D8-57DB-4EBE-BB0D-904C80416C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6250" y="1007838"/>
            <a:ext cx="11239500" cy="4884961"/>
          </a:xfrm>
          <a:prstGeom prst="rect">
            <a:avLst/>
          </a:prstGeom>
          <a:effectLst>
            <a:outerShdw blurRad="317500" dist="762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FE94B0E-5394-4E5C-8778-507AD3765DE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0" t="3227" r="756" b="1038"/>
          <a:stretch/>
        </p:blipFill>
        <p:spPr>
          <a:xfrm>
            <a:off x="711200" y="1150452"/>
            <a:ext cx="10769600" cy="474234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7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hite_pixel_logoFTC.png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6013450"/>
            <a:ext cx="1028700" cy="368300"/>
          </a:xfrm>
          <a:prstGeom prst="rect">
            <a:avLst/>
          </a:prstGeom>
        </p:spPr>
      </p:pic>
      <p:sp>
        <p:nvSpPr>
          <p:cNvPr id="5" name="default_name"/>
          <p:cNvSpPr/>
          <p:nvPr/>
        </p:nvSpPr>
        <p:spPr>
          <a:xfrm>
            <a:off x="476250" y="320767"/>
            <a:ext cx="721487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Визуальный анализ результатов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E5644D8-57DB-4EBE-BB0D-904C80416C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6250" y="1048479"/>
            <a:ext cx="11239500" cy="4823084"/>
          </a:xfrm>
          <a:prstGeom prst="rect">
            <a:avLst/>
          </a:prstGeom>
          <a:effectLst>
            <a:outerShdw blurRad="317500" dist="762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F2FA90D-FEED-41B0-B08F-7B599CB4EA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1840" y="1067718"/>
            <a:ext cx="5809560" cy="4610339"/>
          </a:xfrm>
          <a:prstGeom prst="rect">
            <a:avLst/>
          </a:prstGeom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0DD97A32-59BD-4BFF-94C6-D548102EB51F}"/>
              </a:ext>
            </a:extLst>
          </p:cNvPr>
          <p:cNvSpPr/>
          <p:nvPr/>
        </p:nvSpPr>
        <p:spPr>
          <a:xfrm>
            <a:off x="741680" y="1320799"/>
            <a:ext cx="5090160" cy="4376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0000" indent="-1800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Nunito Regular" pitchFamily="34" charset="0"/>
                <a:ea typeface="Nunito Regular" pitchFamily="34" charset="-122"/>
                <a:cs typeface="Nunito Regular" pitchFamily="34" charset="-120"/>
              </a:rPr>
              <a:t>Точность ~80%, модель стабильно предсказывает движение цены</a:t>
            </a:r>
          </a:p>
          <a:p>
            <a:pPr marL="180000" indent="-1800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Nunito Regular" pitchFamily="34" charset="0"/>
                <a:ea typeface="Nunito Regular" pitchFamily="34" charset="-122"/>
                <a:cs typeface="Nunito Regular" pitchFamily="34" charset="-120"/>
              </a:rPr>
              <a:t>LR </a:t>
            </a:r>
            <a:r>
              <a:rPr lang="ru-RU" sz="2400" dirty="0">
                <a:solidFill>
                  <a:srgbClr val="000000"/>
                </a:solidFill>
                <a:latin typeface="Nunito Regular" pitchFamily="34" charset="0"/>
                <a:ea typeface="Nunito Regular" pitchFamily="34" charset="-122"/>
                <a:cs typeface="Nunito Regular" pitchFamily="34" charset="-120"/>
              </a:rPr>
              <a:t>превзошла более сложные алгоритмы благодаря качественным признакам.</a:t>
            </a:r>
          </a:p>
          <a:p>
            <a:pPr marL="180000" indent="-1800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Nunito Regular" pitchFamily="34" charset="0"/>
                <a:ea typeface="Nunito Regular" pitchFamily="34" charset="-122"/>
                <a:cs typeface="Nunito Regular" pitchFamily="34" charset="-120"/>
              </a:rPr>
              <a:t>Модель эффективна для построения реальных торговых стратегий</a:t>
            </a:r>
          </a:p>
        </p:txBody>
      </p:sp>
    </p:spTree>
    <p:extLst>
      <p:ext uri="{BB962C8B-B14F-4D97-AF65-F5344CB8AC3E}">
        <p14:creationId xmlns:p14="http://schemas.microsoft.com/office/powerpoint/2010/main" val="1245910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286FE5"/>
            </a:gs>
            <a:gs pos="0">
              <a:srgbClr val="3E719B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FA5EA06-3203-4CDB-87D6-9D699388FF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1571" y="3937000"/>
            <a:ext cx="5499100" cy="19050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5F2B324-8032-425C-BD02-13C2783E85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3937000"/>
            <a:ext cx="5499100" cy="1905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3BA6791-6706-45CA-A22C-2C70E96980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5221" y="1749425"/>
            <a:ext cx="5499100" cy="1905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9FAA3D1-789C-47F5-9040-C9EF6CD07A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" y="1749425"/>
            <a:ext cx="5499100" cy="1905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03250" y="2241550"/>
            <a:ext cx="499745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/>
            <a:r>
              <a:rPr lang="ru-RU" sz="21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Выбор горизонта прогнозирования (1-15 дней).</a:t>
            </a:r>
            <a:endParaRPr 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name_1"/>
          <p:cNvSpPr/>
          <p:nvPr/>
        </p:nvSpPr>
        <p:spPr>
          <a:xfrm>
            <a:off x="698500" y="1901674"/>
            <a:ext cx="152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/>
            <a:r>
              <a:rPr lang="en-US" sz="1600" b="1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1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3250" y="4432300"/>
            <a:ext cx="4997450" cy="128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/>
            <a:r>
              <a:rPr lang="ru-RU" sz="21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Визуализация исторических данных и прогноза на интерактивном графике.</a:t>
            </a:r>
            <a:endParaRPr 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name_2"/>
          <p:cNvSpPr/>
          <p:nvPr/>
        </p:nvSpPr>
        <p:spPr>
          <a:xfrm>
            <a:off x="698500" y="4102100"/>
            <a:ext cx="152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/>
            <a:r>
              <a:rPr lang="en-US" sz="1600" b="1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2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343650" y="2241550"/>
            <a:ext cx="4997450" cy="128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/>
            <a:r>
              <a:rPr lang="ru-RU" sz="21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Отображение вероятностей и направлений движения в виде диаграмм.</a:t>
            </a:r>
          </a:p>
          <a:p>
            <a:pPr defTabSz="609630"/>
            <a:endParaRPr lang="ru-RU" sz="2100" dirty="0">
              <a:solidFill>
                <a:srgbClr val="000000"/>
              </a:solidFill>
              <a:latin typeface="Nunito Sans SemiBold" pitchFamily="34" charset="0"/>
              <a:ea typeface="Nunito Sans SemiBold" pitchFamily="34" charset="-122"/>
              <a:cs typeface="Nunito Sans SemiBold" pitchFamily="34" charset="-120"/>
            </a:endParaRPr>
          </a:p>
        </p:txBody>
      </p:sp>
      <p:sp>
        <p:nvSpPr>
          <p:cNvPr id="7" name="name_3"/>
          <p:cNvSpPr/>
          <p:nvPr/>
        </p:nvSpPr>
        <p:spPr>
          <a:xfrm>
            <a:off x="6438900" y="1911350"/>
            <a:ext cx="152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/>
            <a:r>
              <a:rPr lang="en-US" sz="1600" b="1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3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343650" y="4432300"/>
            <a:ext cx="4997450" cy="128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/>
            <a:r>
              <a:rPr lang="ru-RU" sz="21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Формирование инвестиционной рекомендации на основе агрегированного анализа прогнозов.</a:t>
            </a:r>
          </a:p>
          <a:p>
            <a:pPr defTabSz="609630"/>
            <a:endParaRPr lang="ru-RU" sz="2100" dirty="0">
              <a:solidFill>
                <a:srgbClr val="000000"/>
              </a:solidFill>
              <a:latin typeface="Nunito Sans SemiBold" pitchFamily="34" charset="0"/>
              <a:ea typeface="Nunito Sans SemiBold" pitchFamily="34" charset="-122"/>
              <a:cs typeface="Nunito Sans SemiBold" pitchFamily="34" charset="-120"/>
            </a:endParaRPr>
          </a:p>
        </p:txBody>
      </p:sp>
      <p:sp>
        <p:nvSpPr>
          <p:cNvPr id="9" name="name_4"/>
          <p:cNvSpPr/>
          <p:nvPr/>
        </p:nvSpPr>
        <p:spPr>
          <a:xfrm>
            <a:off x="6438900" y="4102100"/>
            <a:ext cx="152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/>
            <a:r>
              <a:rPr lang="en-US" sz="1600" b="1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4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default_name"/>
          <p:cNvSpPr/>
          <p:nvPr/>
        </p:nvSpPr>
        <p:spPr>
          <a:xfrm>
            <a:off x="476250" y="476250"/>
            <a:ext cx="766191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/>
            <a:r>
              <a:rPr lang="ru-RU" sz="3600" dirty="0">
                <a:solidFill>
                  <a:srgbClr val="FFFFFF"/>
                </a:solidFill>
                <a:latin typeface="Nunito ExtraBold" pitchFamily="34" charset="0"/>
              </a:rPr>
              <a:t>Разработка веб-приложения. Функционал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White_pixel_logoFTC.png" descr="preencoded.png">
            <a:extLst>
              <a:ext uri="{FF2B5EF4-FFF2-40B4-BE49-F238E27FC236}">
                <a16:creationId xmlns:a16="http://schemas.microsoft.com/office/drawing/2014/main" id="{A8D9FB08-687D-4F55-8287-E60A127D396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6250" y="6013450"/>
            <a:ext cx="1028700" cy="368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286FE5"/>
            </a:gs>
            <a:gs pos="0">
              <a:srgbClr val="3E719B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fault_name"/>
          <p:cNvSpPr/>
          <p:nvPr/>
        </p:nvSpPr>
        <p:spPr>
          <a:xfrm>
            <a:off x="476250" y="476250"/>
            <a:ext cx="728599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/>
            <a:r>
              <a:rPr lang="ru-RU" sz="3600" dirty="0">
                <a:solidFill>
                  <a:srgbClr val="FFFFFF"/>
                </a:solidFill>
                <a:latin typeface="Nunito ExtraBold" pitchFamily="34" charset="0"/>
              </a:rPr>
              <a:t>Разработка веб-приложения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9BE8F78-B0C4-425B-93E5-9021329CFC7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" r="489"/>
          <a:stretch/>
        </p:blipFill>
        <p:spPr>
          <a:xfrm>
            <a:off x="476250" y="1271270"/>
            <a:ext cx="11239500" cy="4762500"/>
          </a:xfrm>
          <a:prstGeom prst="roundRect">
            <a:avLst>
              <a:gd name="adj" fmla="val 5628"/>
            </a:avLst>
          </a:prstGeom>
        </p:spPr>
      </p:pic>
      <p:pic>
        <p:nvPicPr>
          <p:cNvPr id="6" name="White_pixel_logoFTC.png" descr="preencoded.png">
            <a:extLst>
              <a:ext uri="{FF2B5EF4-FFF2-40B4-BE49-F238E27FC236}">
                <a16:creationId xmlns:a16="http://schemas.microsoft.com/office/drawing/2014/main" id="{8F75B662-0572-4695-A7D5-B5721EF5B3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6250" y="6267450"/>
            <a:ext cx="1028700" cy="368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286FE5"/>
            </a:gs>
            <a:gs pos="0">
              <a:srgbClr val="3E719B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fault_name"/>
          <p:cNvSpPr/>
          <p:nvPr/>
        </p:nvSpPr>
        <p:spPr>
          <a:xfrm>
            <a:off x="476250" y="476250"/>
            <a:ext cx="759079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/>
            <a:r>
              <a:rPr lang="ru-RU" sz="3600" dirty="0">
                <a:solidFill>
                  <a:srgbClr val="FFFFFF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Разработка веб-приложения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D5B9828-E37C-446A-8A2F-03AD9407C2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98920" y="1219200"/>
            <a:ext cx="5706922" cy="4737546"/>
          </a:xfrm>
          <a:prstGeom prst="roundRect">
            <a:avLst>
              <a:gd name="adj" fmla="val 4737"/>
            </a:avLst>
          </a:prstGeom>
          <a:effectLst>
            <a:softEdge rad="0"/>
          </a:effec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8A8709F-E5E0-43EC-A1BD-A3C9286044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6250" y="1219200"/>
            <a:ext cx="5706922" cy="4731503"/>
          </a:xfrm>
          <a:prstGeom prst="roundRect">
            <a:avLst>
              <a:gd name="adj" fmla="val 4313"/>
            </a:avLst>
          </a:prstGeom>
          <a:effectLst>
            <a:softEdge rad="0"/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286FE5"/>
            </a:gs>
            <a:gs pos="0">
              <a:srgbClr val="3E719B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fault_name"/>
          <p:cNvSpPr/>
          <p:nvPr/>
        </p:nvSpPr>
        <p:spPr>
          <a:xfrm>
            <a:off x="476250" y="476250"/>
            <a:ext cx="717423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/>
            <a:r>
              <a:rPr lang="ru-RU" sz="3600" dirty="0">
                <a:solidFill>
                  <a:srgbClr val="FFFFFF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Разработка веб-приложения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White_pixel_logoFTC.png" descr="preencoded.png">
            <a:extLst>
              <a:ext uri="{FF2B5EF4-FFF2-40B4-BE49-F238E27FC236}">
                <a16:creationId xmlns:a16="http://schemas.microsoft.com/office/drawing/2014/main" id="{385D264B-C248-444C-A45C-2F7834CF92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6013450"/>
            <a:ext cx="1028700" cy="3683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A42DCE0-A3A4-4135-A3FB-B83CBDF25D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08885" y="1450531"/>
            <a:ext cx="7174230" cy="4562919"/>
          </a:xfrm>
          <a:prstGeom prst="roundRect">
            <a:avLst>
              <a:gd name="adj" fmla="val 5376"/>
            </a:avLst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286FE5"/>
            </a:gs>
            <a:gs pos="0">
              <a:srgbClr val="3E719B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fault_name"/>
          <p:cNvSpPr/>
          <p:nvPr/>
        </p:nvSpPr>
        <p:spPr>
          <a:xfrm>
            <a:off x="476250" y="476250"/>
            <a:ext cx="3762057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630"/>
            <a:r>
              <a:rPr lang="ru-RU" sz="3600" dirty="0">
                <a:solidFill>
                  <a:srgbClr val="FFFFFF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Выводы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6F894B8-92C2-4AF9-BA13-96131573E1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614" y="1022350"/>
            <a:ext cx="7493561" cy="5525770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68BE8B9E-65E7-4C09-A313-64B54C1B4B1D}"/>
              </a:ext>
            </a:extLst>
          </p:cNvPr>
          <p:cNvSpPr/>
          <p:nvPr/>
        </p:nvSpPr>
        <p:spPr>
          <a:xfrm>
            <a:off x="556260" y="1281430"/>
            <a:ext cx="6545580" cy="4554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0000" indent="-180000" defTabSz="60963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Гипотеза подтвердилась: исторические данные содержат паттерны, позволяющие прогнозировать направление цены с точностью выше случайной.</a:t>
            </a:r>
          </a:p>
          <a:p>
            <a:pPr marL="180000" indent="-180000" defTabSz="60963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Лучшая модель: Logistic Regression показала наилучший результат (Accuracy ~79%, F1-Score ~82%).</a:t>
            </a:r>
          </a:p>
          <a:p>
            <a:pPr marL="180000" indent="-180000" defTabSz="60963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Практическая значимость: </a:t>
            </a:r>
            <a:r>
              <a:rPr lang="en-US" sz="24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c</a:t>
            </a:r>
            <a:r>
              <a:rPr lang="ru-RU" sz="24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оздано</a:t>
            </a:r>
            <a:r>
              <a:rPr lang="ru-RU" sz="24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рабочее веб-приложение, генерирующее торговые рекомендации.</a:t>
            </a:r>
          </a:p>
          <a:p>
            <a:pPr defTabSz="609630">
              <a:lnSpc>
                <a:spcPct val="125000"/>
              </a:lnSpc>
            </a:pPr>
            <a:endParaRPr lang="ru-RU" sz="2400" dirty="0">
              <a:solidFill>
                <a:srgbClr val="000000"/>
              </a:solidFill>
              <a:latin typeface="Nunito Sans SemiBold" pitchFamily="34" charset="0"/>
              <a:ea typeface="Nunito Sans SemiBold" pitchFamily="34" charset="-122"/>
              <a:cs typeface="Nunito Sans SemiBold" pitchFamily="34" charset="-12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E5C3875-EF90-4B77-9716-CA97C2DF0C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80935" y="1230002"/>
            <a:ext cx="4454451" cy="4744078"/>
          </a:xfrm>
          <a:prstGeom prst="roundRect">
            <a:avLst>
              <a:gd name="adj" fmla="val 2982"/>
            </a:avLst>
          </a:prstGeom>
        </p:spPr>
      </p:pic>
      <p:pic>
        <p:nvPicPr>
          <p:cNvPr id="10" name="White_pixel_logoFTC.png" descr="preencoded.png">
            <a:extLst>
              <a:ext uri="{FF2B5EF4-FFF2-40B4-BE49-F238E27FC236}">
                <a16:creationId xmlns:a16="http://schemas.microsoft.com/office/drawing/2014/main" id="{7781D119-A0E2-4130-8D4E-517E51CEF7E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3075" y="6357620"/>
            <a:ext cx="1028700" cy="3683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8D1946F-E700-4E5E-A6B0-F04110216F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1483360"/>
            <a:ext cx="11239500" cy="4043680"/>
          </a:xfrm>
          <a:prstGeom prst="rect">
            <a:avLst/>
          </a:prstGeom>
        </p:spPr>
      </p:pic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6250" y="6013450"/>
            <a:ext cx="1028700" cy="368300"/>
          </a:xfrm>
          <a:prstGeom prst="rect">
            <a:avLst/>
          </a:prstGeom>
        </p:spPr>
      </p:pic>
      <p:sp>
        <p:nvSpPr>
          <p:cNvPr id="3" name="default_name"/>
          <p:cNvSpPr/>
          <p:nvPr/>
        </p:nvSpPr>
        <p:spPr>
          <a:xfrm>
            <a:off x="476250" y="476250"/>
            <a:ext cx="677799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3600" dirty="0">
                <a:solidFill>
                  <a:srgbClr val="000000"/>
                </a:solidFill>
                <a:latin typeface="Nunito ExtraBold" pitchFamily="34" charset="0"/>
              </a:rPr>
              <a:t>Перспективы развития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83236" y="1627914"/>
            <a:ext cx="10825527" cy="3674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500"/>
              </a:lnSpc>
            </a:pPr>
            <a:r>
              <a:rPr lang="ru-RU" sz="26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Усложнение моделей: применение LSTM и трансформеров на более обширных данных</a:t>
            </a:r>
            <a:r>
              <a:rPr lang="en-US" sz="26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.</a:t>
            </a:r>
            <a:endParaRPr lang="ru-RU" sz="2600" dirty="0">
              <a:solidFill>
                <a:srgbClr val="000000"/>
              </a:solidFill>
              <a:latin typeface="Nunito Sans SemiBold" pitchFamily="34" charset="0"/>
              <a:ea typeface="Nunito Sans SemiBold" pitchFamily="34" charset="-122"/>
              <a:cs typeface="Nunito Sans SemiBold" pitchFamily="34" charset="-120"/>
            </a:endParaRPr>
          </a:p>
          <a:p>
            <a:pPr>
              <a:lnSpc>
                <a:spcPct val="112500"/>
              </a:lnSpc>
            </a:pPr>
            <a:r>
              <a:rPr lang="ru-RU" sz="2600" b="1" dirty="0">
                <a:solidFill>
                  <a:srgbClr val="2979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Расширение признаков: Включение макроэкономических данных, новостного анализа (NLP).</a:t>
            </a:r>
          </a:p>
          <a:p>
            <a:pPr>
              <a:lnSpc>
                <a:spcPct val="112500"/>
              </a:lnSpc>
            </a:pPr>
            <a:r>
              <a:rPr lang="ru-RU" sz="26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Универсальность: адаптация подхода для прогнозирования других активов (валюты, сырье).</a:t>
            </a:r>
          </a:p>
          <a:p>
            <a:pPr>
              <a:lnSpc>
                <a:spcPct val="112500"/>
              </a:lnSpc>
            </a:pPr>
            <a:r>
              <a:rPr lang="ru-RU" sz="2600" b="1" dirty="0">
                <a:solidFill>
                  <a:srgbClr val="2979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Интеграция модели в полноценную торговую систему с управлением капиталом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620</Words>
  <Application>Microsoft Office PowerPoint</Application>
  <PresentationFormat>Широкоэкранный</PresentationFormat>
  <Paragraphs>144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19</vt:i4>
      </vt:variant>
    </vt:vector>
  </HeadingPairs>
  <TitlesOfParts>
    <vt:vector size="32" baseType="lpstr">
      <vt:lpstr>Arial</vt:lpstr>
      <vt:lpstr>Calibri</vt:lpstr>
      <vt:lpstr>Calibri Light</vt:lpstr>
      <vt:lpstr>Nunito</vt:lpstr>
      <vt:lpstr>Nunito Bold</vt:lpstr>
      <vt:lpstr>Nunito ExtraBold</vt:lpstr>
      <vt:lpstr>Nunito Regular</vt:lpstr>
      <vt:lpstr>Nunito Sans Bold</vt:lpstr>
      <vt:lpstr>Nunito Sans ExtraBold</vt:lpstr>
      <vt:lpstr>Nunito Sans Medium</vt:lpstr>
      <vt:lpstr>Nunito Sans SemiBold</vt:lpstr>
      <vt:lpstr>Тема Office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ARTEM KORYAKOVSKIY</dc:creator>
  <cp:lastModifiedBy>ARTEM KORYAKOVSKIY</cp:lastModifiedBy>
  <cp:revision>28</cp:revision>
  <dcterms:created xsi:type="dcterms:W3CDTF">2025-11-12T09:17:06Z</dcterms:created>
  <dcterms:modified xsi:type="dcterms:W3CDTF">2025-11-12T23:04:34Z</dcterms:modified>
</cp:coreProperties>
</file>